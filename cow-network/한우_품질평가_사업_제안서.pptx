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한우 품질평가 사업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8C00"/>
                </a:solidFill>
              </a:defRPr>
            </a:pPr>
            <a:r>
              <a:t>조기 육질 평가를 통한 농가 손실 감소 및</a:t>
            </a:r>
            <a:br/>
            <a:r>
              <a:t>배양육 원가 경쟁력 강화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🎯 핵심 가치제안:</a:t>
            </a:r>
          </a:p>
          <a:p>
            <a:pPr lvl="1">
              <a:defRPr sz="1400"/>
            </a:pPr>
            <a:r>
              <a:t>  • 카이바이오의 조기 육질 평가 기술 활용</a:t>
            </a:r>
          </a:p>
          <a:p>
            <a:pPr lvl="1">
              <a:defRPr sz="1400"/>
            </a:pPr>
            <a:r>
              <a:t>  • 저품질 소 조기 판별 → 농가 손실 감소</a:t>
            </a:r>
          </a:p>
          <a:p>
            <a:pPr lvl="1">
              <a:defRPr sz="1400"/>
            </a:pPr>
            <a:r>
              <a:t>  • 카이에프앤비 경유 저가 원육 확보</a:t>
            </a:r>
          </a:p>
          <a:p>
            <a:pPr lvl="1">
              <a:defRPr sz="1400"/>
            </a:pPr>
            <a:r>
              <a:t>  • 배양육 원가 경쟁력 강화 (12% 절감)</a:t>
            </a:r>
          </a:p>
          <a:p>
            <a:pPr>
              <a:defRPr sz="1400"/>
            </a:pPr>
          </a:p>
          <a:p>
            <a:pPr>
              <a:defRPr sz="1800" b="1">
                <a:solidFill>
                  <a:srgbClr val="228B22"/>
                </a:solidFill>
              </a:defRPr>
            </a:pPr>
            <a:r>
              <a:t>💰 3가지 수익원:</a:t>
            </a:r>
          </a:p>
          <a:p>
            <a:pPr lvl="1">
              <a:defRPr sz="1400"/>
            </a:pPr>
            <a:r>
              <a:t>  • 평가 용역료 (48.3%)</a:t>
            </a:r>
          </a:p>
          <a:p>
            <a:pPr lvl="1">
              <a:defRPr sz="1400"/>
            </a:pPr>
            <a:r>
              <a:t>  • 컨설팅비 (19.3%)</a:t>
            </a:r>
          </a:p>
          <a:p>
            <a:pPr lvl="1">
              <a:defRPr sz="1400"/>
            </a:pPr>
            <a:r>
              <a:t>  • 원가 절감 가치 (9.3%)</a:t>
            </a:r>
          </a:p>
          <a:p>
            <a:pPr lvl="1">
              <a:defRPr sz="1400"/>
            </a:pPr>
            <a:r>
              <a:t>  • 부가 수익 (23.2%)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문제 정의 및 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📊 한우 시장의 문제점:</a:t>
            </a:r>
          </a:p>
          <a:p>
            <a:pPr lvl="1">
              <a:defRPr sz="1200"/>
            </a:pPr>
            <a:r>
              <a:t>  • 저품질 소 비중: 약 40-50% (연간 100-150만두)</a:t>
            </a:r>
          </a:p>
          <a:p>
            <a:pPr lvl="1">
              <a:defRPr sz="1200"/>
            </a:pPr>
            <a:r>
              <a:t>  • 농가 손실: 저품질 소당 연간 500-1,000만원</a:t>
            </a:r>
          </a:p>
          <a:p>
            <a:pPr lvl="1">
              <a:defRPr sz="1200"/>
            </a:pPr>
            <a:r>
              <a:t>  • 평가 시점 문제: 출하 시점(30개월)에 판별</a:t>
            </a:r>
          </a:p>
          <a:p>
            <a:pPr>
              <a:defRPr sz="12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❌ As-is 상황:</a:t>
            </a:r>
          </a:p>
          <a:p>
            <a:pPr lvl="1">
              <a:defRPr sz="1200"/>
            </a:pPr>
            <a:r>
              <a:t>  • 저품질 소를 조기에 파악할 기술 없음</a:t>
            </a:r>
          </a:p>
          <a:p>
            <a:pPr lvl="1">
              <a:defRPr sz="1200"/>
            </a:pPr>
            <a:r>
              <a:t>  • 사료비, 의료비 등 불필요한 투자 지속</a:t>
            </a:r>
          </a:p>
          <a:p>
            <a:pPr lvl="1">
              <a:defRPr sz="1200"/>
            </a:pPr>
            <a:r>
              <a:t>  • 농가 손실 → 국가 경쟁력 약화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✅ 우리의 솔루션: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  • 12-18개월 조기 평가 기술</a:t>
            </a:r>
          </a:p>
          <a:p>
            <a:pPr lvl="1">
              <a:defRPr sz="1200"/>
            </a:pPr>
            <a:r>
              <a:t>  • 저품질 소 직매입 시스템</a:t>
            </a:r>
          </a:p>
          <a:p>
            <a:pPr lvl="1">
              <a:defRPr sz="1200"/>
            </a:pPr>
            <a:r>
              <a:t>  • 배양육용 저가 원육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핵심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🔬 3가지 핵심 기술:</a:t>
            </a:r>
          </a:p>
          <a:p>
            <a:pPr>
              <a:defRPr sz="12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1️⃣ 카이바이오 - 조기 육질 평가</a:t>
            </a:r>
          </a:p>
          <a:p>
            <a:pPr>
              <a:defRPr sz="1200"/>
            </a:pPr>
            <a:r>
              <a:t>   • 혈액/체조직 기반 분석</a:t>
            </a:r>
          </a:p>
          <a:p>
            <a:pPr>
              <a:defRPr sz="1200"/>
            </a:pPr>
            <a:r>
              <a:t>   • 정확도: 90% 이상</a:t>
            </a:r>
          </a:p>
          <a:p>
            <a:pPr>
              <a:defRPr sz="1200"/>
            </a:pPr>
            <a:r>
              <a:t>   • 분석 시간: 1-2주</a:t>
            </a:r>
          </a:p>
          <a:p>
            <a:pPr>
              <a:defRPr sz="12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2️⃣ 씨위드 - 세포 배양 검증</a:t>
            </a:r>
          </a:p>
          <a:p>
            <a:pPr>
              <a:defRPr sz="1200"/>
            </a:pPr>
            <a:r>
              <a:t>   • 조직 샘플 배양을 통한 성장 지표 분석</a:t>
            </a:r>
          </a:p>
          <a:p>
            <a:pPr>
              <a:defRPr sz="1200"/>
            </a:pPr>
            <a:r>
              <a:t>   • 카이바이오 평가의 신뢰성 입증</a:t>
            </a:r>
          </a:p>
          <a:p>
            <a:pPr>
              <a:defRPr sz="12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3️⃣ 통합 플랫폼</a:t>
            </a:r>
          </a:p>
          <a:p>
            <a:pPr>
              <a:defRPr sz="1200"/>
            </a:pPr>
            <a:r>
              <a:t>   • 물리 검사 + 생물학적 검증</a:t>
            </a:r>
          </a:p>
          <a:p>
            <a:pPr>
              <a:defRPr sz="1200"/>
            </a:pPr>
            <a:r>
              <a:t>   • 과학적 근거 기반 의사결정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비즈니스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8B22"/>
                </a:solidFill>
              </a:defRPr>
            </a:pPr>
            <a:r>
              <a:t>🤝 Win-Win-Win 파트너십 구조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농가의 저품질 소 (12-18개월령)</a:t>
            </a:r>
          </a:p>
          <a:p>
            <a:pPr lvl="1">
              <a:defRPr sz="1100"/>
            </a:pPr>
            <a:r>
              <a:t>          ↓</a:t>
            </a:r>
          </a:p>
          <a:p>
            <a:pPr>
              <a:defRPr sz="1100"/>
            </a:pPr>
            <a:r>
              <a:t>카이바이오 평가 (조기 판별)</a:t>
            </a:r>
          </a:p>
          <a:p>
            <a:pPr lvl="1">
              <a:defRPr sz="1100"/>
            </a:pPr>
            <a:r>
              <a:t>          ↓</a:t>
            </a:r>
          </a:p>
          <a:p>
            <a:pPr>
              <a:defRPr sz="1100"/>
            </a:pPr>
            <a:r>
              <a:t>카이에프앤비가 20% 할인으로 직매입 (640만원/두)</a:t>
            </a:r>
          </a:p>
          <a:p>
            <a:pPr lvl="1">
              <a:defRPr sz="1100"/>
            </a:pPr>
            <a:r>
              <a:t>          ↓</a:t>
            </a:r>
          </a:p>
          <a:p>
            <a:pPr>
              <a:defRPr sz="1100"/>
            </a:pPr>
            <a:r>
              <a:t>카이에프앤비가 10% 마진 추가 (704만원/두)</a:t>
            </a:r>
          </a:p>
          <a:p>
            <a:pPr lvl="1">
              <a:defRPr sz="1100"/>
            </a:pPr>
            <a:r>
              <a:t>          ↓</a:t>
            </a:r>
          </a:p>
          <a:p>
            <a:pPr>
              <a:defRPr sz="1100"/>
            </a:pPr>
            <a:r>
              <a:t>씨위드(우리)가 최종 구매 (원가 절감: 96만원/두 = 12%)</a:t>
            </a:r>
          </a:p>
          <a:p>
            <a:pPr lvl="1">
              <a:defRPr sz="1100"/>
            </a:pPr>
            <a:r>
              <a:t>          ↓</a:t>
            </a:r>
          </a:p>
          <a:p>
            <a:pPr>
              <a:defRPr sz="1100"/>
            </a:pPr>
            <a:r>
              <a:t>배양육 생산의 원가 경쟁력 강화</a:t>
            </a:r>
          </a:p>
          <a:p>
            <a:pPr>
              <a:defRPr sz="1100"/>
            </a:pP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💡 각 파트너의 이익:</a:t>
            </a:r>
          </a:p>
          <a:p>
            <a:pPr lvl="1">
              <a:defRPr sz="1100"/>
            </a:pPr>
            <a:r>
              <a:t>  • 농가: 손실 최소화</a:t>
            </a:r>
          </a:p>
          <a:p>
            <a:pPr lvl="1">
              <a:defRPr sz="1100"/>
            </a:pPr>
            <a:r>
              <a:t>  • 카이에프앤비: 중개 마진</a:t>
            </a:r>
          </a:p>
          <a:p>
            <a:pPr lvl="1">
              <a:defRPr sz="1100"/>
            </a:pPr>
            <a:r>
              <a:t>  • 씨위드: 원가 경쟁력 확보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수익 구조: Per Head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💰 Profit Per Head 분석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저품질 소 특성 (12-18개월령):</a:t>
            </a:r>
          </a:p>
          <a:p>
            <a:pPr lvl="1">
              <a:defRPr sz="1100"/>
            </a:pPr>
            <a:r>
              <a:t>  예상 생체중: 500-600kg → 도체중: 325kg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가격 계산 (키로당 기준):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시중 생우 가격: 1,600원/kg</a:t>
            </a:r>
          </a:p>
          <a:p>
            <a:pPr lvl="1">
              <a:defRPr sz="1100"/>
            </a:pPr>
            <a:r>
              <a:t>  시중 원육 가격(시중가): 800만원/두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거래 경로: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카이에프앤비 구매가: 640만원 (20% 할인)</a:t>
            </a:r>
          </a:p>
          <a:p>
            <a:pPr lvl="1">
              <a:defRPr sz="1100"/>
            </a:pPr>
            <a:r>
              <a:t>  카이에프앤비 판매가: 704만원 (+10% 마진)</a:t>
            </a:r>
          </a:p>
          <a:p>
            <a:pPr lvl="1">
              <a:defRPr sz="1100"/>
            </a:pPr>
            <a:r>
              <a:t>  우리 구매가(최종): 704만원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결과: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절감액: 96만원/두</a:t>
            </a:r>
          </a:p>
          <a:p>
            <a:pPr lvl="1">
              <a:defRPr sz="1100"/>
            </a:pPr>
            <a:r>
              <a:t>  절감율: 12%</a:t>
            </a:r>
          </a:p>
          <a:p>
            <a:pPr lvl="1">
              <a:defRPr sz="1100"/>
            </a:pPr>
            <a:r>
              <a:t>  배양육 최종 원가 절감: 4.2% (원육 35% 기준)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매출 전망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6949440" cy="3874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2030년 수익 구성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540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비즈니스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📅 3가지 Phase별 성장 전략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Phase 1 (2025): 기반 구축</a:t>
            </a:r>
          </a:p>
          <a:p>
            <a:pPr>
              <a:defRPr sz="1100"/>
            </a:pPr>
            <a:r>
              <a:t>  매출: 2.03억원 | 평가: 100건 | 직매입: 50두</a:t>
            </a:r>
          </a:p>
          <a:p>
            <a:pPr>
              <a:defRPr sz="1100"/>
            </a:pPr>
            <a:r>
              <a:t>  목표: 파일럿 검증, Seed 투자 유치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Phase 2 (2026-2027): 확대</a:t>
            </a:r>
          </a:p>
          <a:p>
            <a:pPr>
              <a:defRPr sz="1100"/>
            </a:pPr>
            <a:r>
              <a:t>  누적 매출: 34.35억원 | 평가: 1,000건 | 직매입: 300두</a:t>
            </a:r>
          </a:p>
          <a:p>
            <a:pPr>
              <a:defRPr sz="1100"/>
            </a:pPr>
            <a:r>
              <a:t>  목표: 시장 확대, Series A 투자 유치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Phase 3 (2028-2030): 고도화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누적 매출: 127억원 | 평가: 2,500건 | 직매입: 500두</a:t>
            </a:r>
          </a:p>
          <a:p>
            <a:pPr>
              <a:defRPr sz="1100"/>
            </a:pPr>
            <a:r>
              <a:t>  목표: AI 모델 상용화, 전국 커버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총 누적: 162억원 | 투자: 30-45억원 | ROI: 3.6-5.4배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투자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💰 3단계 투자 전략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Seed (2025 Q4): 5-10억원</a:t>
            </a:r>
          </a:p>
          <a:p>
            <a:pPr>
              <a:defRPr sz="1100"/>
            </a:pPr>
            <a:r>
              <a:t>  용도: 파일럿 구축, 인력, 마케팅</a:t>
            </a:r>
          </a:p>
          <a:p>
            <a:pPr>
              <a:defRPr sz="1100"/>
            </a:pPr>
            <a:r>
              <a:t>  목표: 100건 평가, 기술 검증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Series A (2026 Q4): 10-15억원</a:t>
            </a:r>
          </a:p>
          <a:p>
            <a:pPr>
              <a:defRPr sz="1100"/>
            </a:pPr>
            <a:r>
              <a:t>  용도: 영업 확대, 인프라, 기술 고도화</a:t>
            </a:r>
          </a:p>
          <a:p>
            <a:pPr>
              <a:defRPr sz="1100"/>
            </a:pPr>
            <a:r>
              <a:t>  목표: 1,000건 평가, 300두 직매입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Series B (2028 Q1): 15-20억원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용도: AI 개발, 전국 확대</a:t>
            </a:r>
          </a:p>
          <a:p>
            <a:pPr>
              <a:defRPr sz="1100"/>
            </a:pPr>
            <a:r>
              <a:t>  목표: 2,500건 평가, 500두 직매입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기업가치: 250-400억원 (2030년)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경쟁적 우위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🏆 경쟁적 우위 (Competitive Moat)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기술 독점성</a:t>
            </a:r>
          </a:p>
          <a:p>
            <a:pPr>
              <a:defRPr sz="1100"/>
            </a:pPr>
            <a:r>
              <a:t>  • 카이바이오 조기 평가 기술 (90% 정확도)</a:t>
            </a:r>
          </a:p>
          <a:p>
            <a:pPr>
              <a:defRPr sz="1100"/>
            </a:pPr>
            <a:r>
              <a:t>  • 씨위드 세포 배양 검증 (차별화)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관계 진입장벽</a:t>
            </a:r>
          </a:p>
          <a:p>
            <a:pPr>
              <a:defRPr sz="1100"/>
            </a:pPr>
            <a:r>
              <a:t>  • 농가 신뢰 구축 (초기 파일럿)</a:t>
            </a:r>
          </a:p>
          <a:p>
            <a:pPr>
              <a:defRPr sz="1100"/>
            </a:pPr>
            <a:r>
              <a:t>  • 차병원 네트워크 (마케팅 채널)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비즈니스 모델 차별성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• 직매입 시스템 (카이에프앤비 경유)</a:t>
            </a:r>
          </a:p>
          <a:p>
            <a:pPr>
              <a:defRPr sz="1100"/>
            </a:pPr>
            <a:r>
              <a:t>  • 배양육 연계 (원가 경쟁력)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규제 진입장벽</a:t>
            </a:r>
          </a:p>
          <a:p>
            <a:pPr>
              <a:defRPr sz="1100"/>
            </a:pPr>
            <a:r>
              <a:t>  • 동물보호, 식품 안전 기준 준수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리스크 및 대응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8B22"/>
                </a:solidFill>
              </a:defRPr>
            </a:pPr>
            <a:r>
              <a:t>⚠️ 주요 리스크 및 대응</a:t>
            </a:r>
          </a:p>
          <a:p>
            <a:pPr>
              <a:defRPr sz="1100"/>
            </a:pPr>
          </a:p>
          <a:p>
            <a:pPr>
              <a:defRPr sz="1300" b="1">
                <a:solidFill>
                  <a:srgbClr val="228B22"/>
                </a:solidFill>
              </a:defRPr>
            </a:pPr>
            <a:r>
              <a:t>기술 의존성 (HIGH)</a:t>
            </a:r>
          </a:p>
          <a:p>
            <a:pPr>
              <a:defRPr sz="1100"/>
            </a:pPr>
            <a:r>
              <a:t>  대응: 라이센싱 계약 장기화, 기술 확장</a:t>
            </a:r>
          </a:p>
          <a:p>
            <a:pPr>
              <a:defRPr sz="1100"/>
            </a:pPr>
          </a:p>
          <a:p>
            <a:pPr>
              <a:defRPr sz="1300" b="1">
                <a:solidFill>
                  <a:srgbClr val="228B22"/>
                </a:solidFill>
              </a:defRPr>
            </a:pPr>
            <a:r>
              <a:t>농가 신뢰 확보 (HIGH)</a:t>
            </a:r>
          </a:p>
          <a:p>
            <a:pPr>
              <a:defRPr sz="1100"/>
            </a:pPr>
            <a:r>
              <a:t>  대응: 초기 파일럿에서 정확도 입증</a:t>
            </a:r>
          </a:p>
          <a:p>
            <a:pPr>
              <a:defRPr sz="1100"/>
            </a:pPr>
          </a:p>
          <a:p>
            <a:pPr>
              <a:defRPr sz="1300" b="1">
                <a:solidFill>
                  <a:srgbClr val="228B22"/>
                </a:solidFill>
              </a:defRPr>
            </a:pPr>
            <a:r>
              <a:t>원육 수급 불안 (MEDIUM)</a:t>
            </a:r>
          </a:p>
          <a:p>
            <a:pPr>
              <a:defRPr sz="1100"/>
            </a:pPr>
            <a:r>
              <a:t>  대응: 카이에프앤비 장기 계약, 다변화</a:t>
            </a:r>
          </a:p>
          <a:p>
            <a:pPr>
              <a:defRPr sz="1100"/>
            </a:pPr>
          </a:p>
          <a:p>
            <a:pPr>
              <a:defRPr sz="1300" b="1">
                <a:solidFill>
                  <a:srgbClr val="228B22"/>
                </a:solidFill>
              </a:defRPr>
            </a:pPr>
            <a:r>
              <a:t>시장 불확실성 (MEDIUM)</a:t>
            </a:r>
          </a:p>
          <a:p>
            <a:pPr>
              <a:defRPr sz="1100"/>
            </a:pPr>
            <a:r>
              <a:t>  대응: 독립적 한우 평가 비즈니스로 수익화</a:t>
            </a:r>
          </a:p>
          <a:p>
            <a:pPr>
              <a:defRPr sz="1100"/>
            </a:pPr>
          </a:p>
          <a:p>
            <a:pPr>
              <a:defRPr sz="1300" b="1">
                <a:solidFill>
                  <a:srgbClr val="228B22"/>
                </a:solidFill>
              </a:defRPr>
            </a:pPr>
            <a:r>
              <a:t>규제 변화 (MEDIUM)</a:t>
            </a:r>
          </a:p>
          <a:p>
            <a:pPr>
              <a:defRPr sz="1100"/>
            </a:pPr>
            <a:r>
              <a:t>  대응: 초기부터 관련 기관과 협의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t>결론 및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8B22"/>
                </a:solidFill>
              </a:defRPr>
            </a:pPr>
            <a:r>
              <a:t>✨ 최종 제안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핵심 가치제안</a:t>
            </a:r>
          </a:p>
          <a:p>
            <a:pPr>
              <a:defRPr sz="1200" i="1"/>
            </a:pPr>
            <a:r>
              <a:t>"조기 육질 평가를 통해 한우 농가의 손실을 줄이고,</a:t>
            </a:r>
          </a:p>
          <a:p>
            <a:pPr>
              <a:defRPr sz="1200" i="1"/>
            </a:pPr>
            <a:r>
              <a:t>우리는 배양육 원가 경쟁력을 확보한다"</a:t>
            </a:r>
          </a:p>
          <a:p>
            <a:pPr>
              <a:defRPr sz="1100"/>
            </a:pP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기대효과</a:t>
            </a:r>
          </a:p>
          <a:p>
            <a:pPr>
              <a:defRPr sz="1100"/>
            </a:pPr>
            <a:r>
              <a:t>  ✓ 농가 손실 감소: 연간 500만~1,000만원/두</a:t>
            </a:r>
          </a:p>
          <a:p>
            <a:pPr>
              <a:defRPr sz="1100"/>
            </a:pPr>
            <a:r>
              <a:t>  ✓ 사업 수익성: 2030년 51.8억원 연매출</a:t>
            </a:r>
          </a:p>
          <a:p>
            <a:pPr>
              <a:defRPr sz="1100"/>
            </a:pPr>
            <a:r>
              <a:t>  ✓ 배양육 경쟁력: 12% 원가 절감</a:t>
            </a:r>
          </a:p>
          <a:p>
            <a:pPr>
              <a:defRPr sz="1100"/>
            </a:pPr>
            <a:r>
              <a:t>  ✓ 정책 부합성: 정부 축산 고급화 지원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추천사항</a:t>
            </a:r>
          </a:p>
          <a:p>
            <a:pPr>
              <a:defRPr sz="1400" b="1">
                <a:solidFill>
                  <a:srgbClr val="228B22"/>
                </a:solidFill>
              </a:defRPr>
            </a:pPr>
            <a:r>
              <a:t>  → Series A (10-15억원) 투자를 통한 단계적 확대</a:t>
            </a:r>
          </a:p>
          <a:p>
            <a:pPr>
              <a:defRPr sz="1100"/>
            </a:pPr>
            <a:r>
              <a:t>  → 2027년 34.35억원 누적 매출 달성</a:t>
            </a:r>
          </a:p>
          <a:p>
            <a:pPr>
              <a:defRPr sz="1100"/>
            </a:pPr>
            <a:r>
              <a:t>  → 2030년 51.8억원 매출, 250-400억원 기업가치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8C00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